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62" r:id="rId4"/>
    <p:sldId id="27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086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97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733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4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9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92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323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2056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87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9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B59E92-1FED-4786-93F9-93E1C5C12FF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324B8B-2406-42EB-A6F2-609035504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00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7916-C0BD-21C1-5DBD-57F81B728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gency FB" panose="020B0503020202020204" pitchFamily="34" charset="0"/>
              </a:rPr>
              <a:t>Phishing Awareness training</a:t>
            </a: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9ED96C-8846-C7FD-7ED8-84490F5831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DHRUMAN DAS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3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764F6-AB45-D4ED-71BD-672CB31DE974}"/>
              </a:ext>
            </a:extLst>
          </p:cNvPr>
          <p:cNvSpPr txBox="1"/>
          <p:nvPr/>
        </p:nvSpPr>
        <p:spPr>
          <a:xfrm>
            <a:off x="4657831" y="440931"/>
            <a:ext cx="257153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lgerian" panose="04020705040A02060702" pitchFamily="82" charset="0"/>
              </a:rPr>
              <a:t>Introduction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4A61A-82B3-18E1-840B-589D261753E5}"/>
              </a:ext>
            </a:extLst>
          </p:cNvPr>
          <p:cNvSpPr txBox="1"/>
          <p:nvPr/>
        </p:nvSpPr>
        <p:spPr>
          <a:xfrm>
            <a:off x="741576" y="1200574"/>
            <a:ext cx="10614582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Bodoni MT" panose="02070603080606020203" pitchFamily="18" charset="0"/>
              </a:rPr>
              <a:t>What is </a:t>
            </a:r>
            <a:r>
              <a:rPr lang="en-US" sz="2000" b="1" dirty="0">
                <a:solidFill>
                  <a:srgbClr val="FF0000"/>
                </a:solidFill>
                <a:latin typeface="Bodoni MT" panose="02070603080606020203" pitchFamily="18" charset="0"/>
              </a:rPr>
              <a:t>Phishing</a:t>
            </a:r>
            <a:r>
              <a:rPr lang="en-US" sz="2000" b="1" dirty="0">
                <a:latin typeface="Bodoni MT" panose="02070603080606020203" pitchFamily="18" charset="0"/>
              </a:rPr>
              <a:t>?</a:t>
            </a:r>
          </a:p>
          <a:p>
            <a:endParaRPr lang="en-US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Phishing is a form of cyber attack where a malicious actor, often posing as a trustworthy entity, attempts to deceive individuals into divulging sensitive information such as passwords, credit card numbers, or other personal data. </a:t>
            </a:r>
          </a:p>
          <a:p>
            <a:endParaRPr lang="en-US" sz="11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This is typically done through fraudulent emails, messages, or websites that mimic legitimate sources.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F62C4-06C1-FE04-03B6-B59C4908883A}"/>
              </a:ext>
            </a:extLst>
          </p:cNvPr>
          <p:cNvSpPr txBox="1"/>
          <p:nvPr/>
        </p:nvSpPr>
        <p:spPr>
          <a:xfrm>
            <a:off x="741576" y="3370081"/>
            <a:ext cx="104040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Bodoni MT" panose="02070603080606020203" pitchFamily="18" charset="0"/>
              </a:rPr>
              <a:t>How does </a:t>
            </a:r>
            <a:r>
              <a:rPr lang="en-US" sz="2000" b="1" dirty="0">
                <a:solidFill>
                  <a:srgbClr val="FF0000"/>
                </a:solidFill>
                <a:latin typeface="Bodoni MT" panose="02070603080606020203" pitchFamily="18" charset="0"/>
              </a:rPr>
              <a:t>Phishing attacks</a:t>
            </a:r>
            <a:r>
              <a:rPr lang="en-US" sz="2000" b="1" dirty="0">
                <a:latin typeface="Bodoni MT" panose="02070603080606020203" pitchFamily="18" charset="0"/>
              </a:rPr>
              <a:t> generally works?</a:t>
            </a:r>
          </a:p>
          <a:p>
            <a:endParaRPr lang="en-US" sz="14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doni MT" panose="02070603080606020203" pitchFamily="18" charset="0"/>
              </a:rPr>
              <a:t>Deceptive Communication</a:t>
            </a:r>
          </a:p>
          <a:p>
            <a:endParaRPr lang="en-US" sz="1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Sense of Urgency or Fear</a:t>
            </a:r>
          </a:p>
          <a:p>
            <a:endParaRPr lang="en-US" sz="1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doni MT" panose="02070603080606020203" pitchFamily="18" charset="0"/>
              </a:rPr>
              <a:t>Fake Websites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doni MT" panose="02070603080606020203" pitchFamily="18" charset="0"/>
              </a:rPr>
              <a:t>Malware Delivery</a:t>
            </a:r>
          </a:p>
          <a:p>
            <a:endParaRPr lang="en-US" sz="1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doni MT" panose="02070603080606020203" pitchFamily="18" charset="0"/>
              </a:rPr>
              <a:t>Targeting Individuals or Organizations</a:t>
            </a:r>
          </a:p>
          <a:p>
            <a:endParaRPr lang="en-US" sz="1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doni MT" panose="02070603080606020203" pitchFamily="18" charset="0"/>
              </a:rPr>
              <a:t>Spear Phishing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391179-69F9-4A0F-4796-9C413EB15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596" y="3457281"/>
            <a:ext cx="4778569" cy="273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4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2B78F-DE42-7C7B-BFEC-BCC0A8DA6DEE}"/>
              </a:ext>
            </a:extLst>
          </p:cNvPr>
          <p:cNvSpPr txBox="1"/>
          <p:nvPr/>
        </p:nvSpPr>
        <p:spPr>
          <a:xfrm>
            <a:off x="3808430" y="678730"/>
            <a:ext cx="40689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Bodoni MT" panose="02070603080606020203" pitchFamily="18" charset="0"/>
              </a:rPr>
              <a:t>Types of </a:t>
            </a:r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Phishing Attacks</a:t>
            </a:r>
          </a:p>
          <a:p>
            <a:endParaRPr lang="en-IN" sz="2000" b="1" u="sng" dirty="0">
              <a:latin typeface="Bodoni MT" panose="0207060308060602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0D367F-7C1D-99EB-206B-B803F7234893}"/>
              </a:ext>
            </a:extLst>
          </p:cNvPr>
          <p:cNvSpPr/>
          <p:nvPr/>
        </p:nvSpPr>
        <p:spPr>
          <a:xfrm>
            <a:off x="591025" y="1902668"/>
            <a:ext cx="3066066" cy="4191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8B178B-8950-39C8-D8FB-D0A58398EB7A}"/>
              </a:ext>
            </a:extLst>
          </p:cNvPr>
          <p:cNvSpPr/>
          <p:nvPr/>
        </p:nvSpPr>
        <p:spPr>
          <a:xfrm>
            <a:off x="4645056" y="1781666"/>
            <a:ext cx="3066069" cy="43976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DACEF8-9203-7A88-09BF-D84DAFE838B7}"/>
              </a:ext>
            </a:extLst>
          </p:cNvPr>
          <p:cNvSpPr/>
          <p:nvPr/>
        </p:nvSpPr>
        <p:spPr>
          <a:xfrm>
            <a:off x="8691513" y="1781666"/>
            <a:ext cx="2909462" cy="43976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35FD35-45BF-27B2-D81A-ABB286987F7C}"/>
              </a:ext>
            </a:extLst>
          </p:cNvPr>
          <p:cNvSpPr txBox="1"/>
          <p:nvPr/>
        </p:nvSpPr>
        <p:spPr>
          <a:xfrm>
            <a:off x="978032" y="2488677"/>
            <a:ext cx="2144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odoni MT" panose="02070603080606020203" pitchFamily="18" charset="0"/>
              </a:rPr>
              <a:t>Social Engineering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9D4D76-14D6-A0C4-64C4-E841A8B25E0D}"/>
              </a:ext>
            </a:extLst>
          </p:cNvPr>
          <p:cNvCxnSpPr>
            <a:cxnSpLocks/>
          </p:cNvCxnSpPr>
          <p:nvPr/>
        </p:nvCxnSpPr>
        <p:spPr>
          <a:xfrm>
            <a:off x="1069941" y="2978869"/>
            <a:ext cx="19419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7F008F-6CA6-98B9-E8C0-39536145B969}"/>
              </a:ext>
            </a:extLst>
          </p:cNvPr>
          <p:cNvSpPr txBox="1"/>
          <p:nvPr/>
        </p:nvSpPr>
        <p:spPr>
          <a:xfrm>
            <a:off x="788316" y="3244707"/>
            <a:ext cx="2686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doni MT" panose="02070603080606020203" pitchFamily="18" charset="0"/>
              </a:rPr>
              <a:t>Manipulating individual's to divulge confidential information's.</a:t>
            </a:r>
          </a:p>
          <a:p>
            <a:r>
              <a:rPr lang="en-US" dirty="0">
                <a:latin typeface="Bodoni MT" panose="02070603080606020203" pitchFamily="18" charset="0"/>
              </a:rPr>
              <a:t>Examples: Impersonation, emotional manipulation.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774A7F-9CB2-226A-2D4B-1D56F6E4672E}"/>
              </a:ext>
            </a:extLst>
          </p:cNvPr>
          <p:cNvSpPr txBox="1"/>
          <p:nvPr/>
        </p:nvSpPr>
        <p:spPr>
          <a:xfrm>
            <a:off x="5000898" y="2472321"/>
            <a:ext cx="2037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Bodoni MT" panose="02070603080606020203" pitchFamily="18" charset="0"/>
              </a:rPr>
              <a:t>Website Phishing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AB2FBF-D228-58C3-507C-7E5B20A82402}"/>
              </a:ext>
            </a:extLst>
          </p:cNvPr>
          <p:cNvCxnSpPr>
            <a:cxnSpLocks/>
          </p:cNvCxnSpPr>
          <p:nvPr/>
        </p:nvCxnSpPr>
        <p:spPr>
          <a:xfrm>
            <a:off x="5048677" y="2956344"/>
            <a:ext cx="19419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211C81-85D2-A41A-2A1E-B4559E1781EC}"/>
              </a:ext>
            </a:extLst>
          </p:cNvPr>
          <p:cNvSpPr txBox="1"/>
          <p:nvPr/>
        </p:nvSpPr>
        <p:spPr>
          <a:xfrm>
            <a:off x="4918434" y="3204289"/>
            <a:ext cx="2686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doni MT" panose="02070603080606020203" pitchFamily="18" charset="0"/>
              </a:rPr>
              <a:t>Fraudulent websites imitating legitimate ones.</a:t>
            </a:r>
          </a:p>
          <a:p>
            <a:r>
              <a:rPr lang="en-US" dirty="0">
                <a:latin typeface="Bodoni MT" panose="02070603080606020203" pitchFamily="18" charset="0"/>
              </a:rPr>
              <a:t>Examples: Fake login pages, malicious websites.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85DA90-94B6-2F29-2522-8E139BC43DDF}"/>
              </a:ext>
            </a:extLst>
          </p:cNvPr>
          <p:cNvSpPr txBox="1"/>
          <p:nvPr/>
        </p:nvSpPr>
        <p:spPr>
          <a:xfrm>
            <a:off x="9176487" y="2472321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Bodoni MT" panose="02070603080606020203" pitchFamily="18" charset="0"/>
              </a:rPr>
              <a:t>Email Phishing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AB0A90-1359-82E6-0784-53D2CC6FC1FA}"/>
              </a:ext>
            </a:extLst>
          </p:cNvPr>
          <p:cNvCxnSpPr>
            <a:cxnSpLocks/>
          </p:cNvCxnSpPr>
          <p:nvPr/>
        </p:nvCxnSpPr>
        <p:spPr>
          <a:xfrm>
            <a:off x="9112184" y="2917068"/>
            <a:ext cx="19419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0A8336-415E-57B0-A075-6BE718D5AC3A}"/>
              </a:ext>
            </a:extLst>
          </p:cNvPr>
          <p:cNvSpPr txBox="1"/>
          <p:nvPr/>
        </p:nvSpPr>
        <p:spPr>
          <a:xfrm>
            <a:off x="9027458" y="3202268"/>
            <a:ext cx="2686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doni MT" panose="02070603080606020203" pitchFamily="18" charset="0"/>
              </a:rPr>
              <a:t>Deceptive emails to extract information.</a:t>
            </a:r>
          </a:p>
          <a:p>
            <a:r>
              <a:rPr lang="en-US" dirty="0">
                <a:latin typeface="Bodoni MT" panose="02070603080606020203" pitchFamily="18" charset="0"/>
              </a:rPr>
              <a:t>Examples: Fake security alerts, account verification requests.</a:t>
            </a:r>
            <a:endParaRPr lang="en-IN" dirty="0">
              <a:latin typeface="Bodoni MT" panose="02070603080606020203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46C580-4554-3E37-7183-6C53693CC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407" y="1902668"/>
            <a:ext cx="433683" cy="4336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09B591-D204-BE49-FB8F-61599B7A4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30" y="1933360"/>
            <a:ext cx="1008694" cy="4652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556FC27-629B-DADE-11B7-C4C20B574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929" y="1762074"/>
            <a:ext cx="680431" cy="66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7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06876-A930-0899-AACB-D901A7FA796D}"/>
              </a:ext>
            </a:extLst>
          </p:cNvPr>
          <p:cNvSpPr txBox="1"/>
          <p:nvPr/>
        </p:nvSpPr>
        <p:spPr>
          <a:xfrm>
            <a:off x="2846897" y="820131"/>
            <a:ext cx="7023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Bodoni MT" panose="02070603080606020203" pitchFamily="18" charset="0"/>
              </a:rPr>
              <a:t>Common Characteristics of </a:t>
            </a:r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Phishing Attempts</a:t>
            </a:r>
            <a:endParaRPr lang="en-IN" sz="2000" b="1" u="sng" dirty="0">
              <a:latin typeface="Bodoni MT" panose="020706030806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523E4-6C80-CB68-8100-E107DCBBB0E8}"/>
              </a:ext>
            </a:extLst>
          </p:cNvPr>
          <p:cNvSpPr txBox="1"/>
          <p:nvPr/>
        </p:nvSpPr>
        <p:spPr>
          <a:xfrm>
            <a:off x="1168923" y="1819372"/>
            <a:ext cx="90685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Urgency: Creating a sense of immediate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Unexpected Emails: Receiving unsolicited emails.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Suspicious Links: Hover our links to preview URL’S.</a:t>
            </a:r>
          </a:p>
          <a:p>
            <a:endParaRPr lang="en-US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Requests for Personal Information: Be Cautious.</a:t>
            </a:r>
            <a:endParaRPr lang="en-IN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88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BB6BA0-97BF-0C59-BB3F-FAEB095E2C7E}"/>
              </a:ext>
            </a:extLst>
          </p:cNvPr>
          <p:cNvSpPr txBox="1"/>
          <p:nvPr/>
        </p:nvSpPr>
        <p:spPr>
          <a:xfrm>
            <a:off x="3716517" y="725865"/>
            <a:ext cx="4758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doni MT" panose="02070603080606020203" pitchFamily="18" charset="0"/>
              </a:rPr>
              <a:t>Recognizing </a:t>
            </a:r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Phishing Emails</a:t>
            </a:r>
            <a:endParaRPr lang="en-IN" sz="2800" b="1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7849B-C3EB-C988-3422-88ABB408A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624" y="1658379"/>
            <a:ext cx="3268416" cy="319722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D08128-869E-CE3B-53A0-A4D2FE1AA480}"/>
              </a:ext>
            </a:extLst>
          </p:cNvPr>
          <p:cNvCxnSpPr>
            <a:cxnSpLocks/>
          </p:cNvCxnSpPr>
          <p:nvPr/>
        </p:nvCxnSpPr>
        <p:spPr>
          <a:xfrm>
            <a:off x="3296696" y="3256991"/>
            <a:ext cx="9084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FAE099-43B9-7119-B8AC-160235D8551F}"/>
              </a:ext>
            </a:extLst>
          </p:cNvPr>
          <p:cNvCxnSpPr>
            <a:cxnSpLocks/>
          </p:cNvCxnSpPr>
          <p:nvPr/>
        </p:nvCxnSpPr>
        <p:spPr>
          <a:xfrm>
            <a:off x="8541470" y="2149309"/>
            <a:ext cx="47919" cy="2326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4AD334-3FCD-F9C7-4AF5-DEFD493EC1B5}"/>
              </a:ext>
            </a:extLst>
          </p:cNvPr>
          <p:cNvCxnSpPr>
            <a:cxnSpLocks/>
          </p:cNvCxnSpPr>
          <p:nvPr/>
        </p:nvCxnSpPr>
        <p:spPr>
          <a:xfrm>
            <a:off x="8541470" y="2139880"/>
            <a:ext cx="762786" cy="9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1443B4-B591-2AB6-0394-551F4F2EA7FC}"/>
              </a:ext>
            </a:extLst>
          </p:cNvPr>
          <p:cNvCxnSpPr>
            <a:cxnSpLocks/>
          </p:cNvCxnSpPr>
          <p:nvPr/>
        </p:nvCxnSpPr>
        <p:spPr>
          <a:xfrm>
            <a:off x="8589389" y="4475373"/>
            <a:ext cx="7997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933960-D19B-0B31-D839-59180FA634B4}"/>
              </a:ext>
            </a:extLst>
          </p:cNvPr>
          <p:cNvSpPr txBox="1"/>
          <p:nvPr/>
        </p:nvSpPr>
        <p:spPr>
          <a:xfrm>
            <a:off x="9473938" y="1871209"/>
            <a:ext cx="1640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Verify Email Content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79E3BF-B415-01D0-640E-A99A26CCE814}"/>
              </a:ext>
            </a:extLst>
          </p:cNvPr>
          <p:cNvSpPr txBox="1"/>
          <p:nvPr/>
        </p:nvSpPr>
        <p:spPr>
          <a:xfrm>
            <a:off x="9515900" y="4152206"/>
            <a:ext cx="198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Hover Our Links to Preview URL’s</a:t>
            </a:r>
            <a:endParaRPr lang="en-IN" b="1" dirty="0">
              <a:latin typeface="Bodoni MT" panose="02070603080606020203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95E2F1-135F-D683-A0D5-DED3516505CE}"/>
              </a:ext>
            </a:extLst>
          </p:cNvPr>
          <p:cNvCxnSpPr>
            <a:cxnSpLocks/>
          </p:cNvCxnSpPr>
          <p:nvPr/>
        </p:nvCxnSpPr>
        <p:spPr>
          <a:xfrm>
            <a:off x="7642454" y="3256991"/>
            <a:ext cx="9084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615857-7D6D-1F7A-6BBE-A5467D95382F}"/>
              </a:ext>
            </a:extLst>
          </p:cNvPr>
          <p:cNvCxnSpPr>
            <a:cxnSpLocks/>
          </p:cNvCxnSpPr>
          <p:nvPr/>
        </p:nvCxnSpPr>
        <p:spPr>
          <a:xfrm>
            <a:off x="3263311" y="2149309"/>
            <a:ext cx="47919" cy="2326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C3F9F9-671B-9A13-74FE-995D6A4B5AAA}"/>
              </a:ext>
            </a:extLst>
          </p:cNvPr>
          <p:cNvCxnSpPr>
            <a:cxnSpLocks/>
          </p:cNvCxnSpPr>
          <p:nvPr/>
        </p:nvCxnSpPr>
        <p:spPr>
          <a:xfrm flipH="1">
            <a:off x="2559050" y="2160302"/>
            <a:ext cx="7042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85FD7A-A5D9-1F15-EFC2-8FF5C06F2414}"/>
              </a:ext>
            </a:extLst>
          </p:cNvPr>
          <p:cNvCxnSpPr>
            <a:cxnSpLocks/>
          </p:cNvCxnSpPr>
          <p:nvPr/>
        </p:nvCxnSpPr>
        <p:spPr>
          <a:xfrm flipH="1">
            <a:off x="2559050" y="4469079"/>
            <a:ext cx="756501" cy="6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E5B66F-1CD7-6DC1-3B5F-E8E1A0E86081}"/>
              </a:ext>
            </a:extLst>
          </p:cNvPr>
          <p:cNvSpPr txBox="1"/>
          <p:nvPr/>
        </p:nvSpPr>
        <p:spPr>
          <a:xfrm>
            <a:off x="783603" y="1871209"/>
            <a:ext cx="1640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Check the Sender’s Email Address.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1F0255-A341-D302-BB94-6BA2C9C456CA}"/>
              </a:ext>
            </a:extLst>
          </p:cNvPr>
          <p:cNvSpPr txBox="1"/>
          <p:nvPr/>
        </p:nvSpPr>
        <p:spPr>
          <a:xfrm>
            <a:off x="610190" y="4063462"/>
            <a:ext cx="1831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Look for Spelling and Grammar mistakes</a:t>
            </a:r>
            <a:endParaRPr lang="en-IN" b="1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411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C4A369-A7EC-FEEC-3CA8-E6CB863AB685}"/>
              </a:ext>
            </a:extLst>
          </p:cNvPr>
          <p:cNvSpPr txBox="1"/>
          <p:nvPr/>
        </p:nvSpPr>
        <p:spPr>
          <a:xfrm>
            <a:off x="3603396" y="782426"/>
            <a:ext cx="4956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doni MT" panose="02070603080606020203" pitchFamily="18" charset="0"/>
              </a:rPr>
              <a:t>Recognizing </a:t>
            </a:r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Phishing Websites</a:t>
            </a:r>
            <a:endParaRPr lang="en-IN" sz="2800" b="1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002FA-1346-FC82-3938-D898FDFFD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17" y="2080194"/>
            <a:ext cx="2824558" cy="282455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E1C2AE-3A01-F736-1C57-6C1F117B3DBD}"/>
              </a:ext>
            </a:extLst>
          </p:cNvPr>
          <p:cNvCxnSpPr>
            <a:cxnSpLocks/>
          </p:cNvCxnSpPr>
          <p:nvPr/>
        </p:nvCxnSpPr>
        <p:spPr>
          <a:xfrm>
            <a:off x="7519905" y="3429000"/>
            <a:ext cx="9084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3A7E4E-895B-F7C8-6418-85C24DD3CD91}"/>
              </a:ext>
            </a:extLst>
          </p:cNvPr>
          <p:cNvCxnSpPr>
            <a:cxnSpLocks/>
          </p:cNvCxnSpPr>
          <p:nvPr/>
        </p:nvCxnSpPr>
        <p:spPr>
          <a:xfrm>
            <a:off x="8404388" y="2149309"/>
            <a:ext cx="47919" cy="2326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88086B-EEE7-4CDF-4DC6-CE1ACA387AE6}"/>
              </a:ext>
            </a:extLst>
          </p:cNvPr>
          <p:cNvCxnSpPr>
            <a:cxnSpLocks/>
          </p:cNvCxnSpPr>
          <p:nvPr/>
        </p:nvCxnSpPr>
        <p:spPr>
          <a:xfrm>
            <a:off x="8395746" y="2160302"/>
            <a:ext cx="762786" cy="9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B9E146-3E53-6D8E-2BB4-1D49A677A601}"/>
              </a:ext>
            </a:extLst>
          </p:cNvPr>
          <p:cNvCxnSpPr>
            <a:cxnSpLocks/>
          </p:cNvCxnSpPr>
          <p:nvPr/>
        </p:nvCxnSpPr>
        <p:spPr>
          <a:xfrm>
            <a:off x="8460949" y="4459650"/>
            <a:ext cx="762786" cy="9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0A7564-6BEA-B0BE-F688-560A314965E0}"/>
              </a:ext>
            </a:extLst>
          </p:cNvPr>
          <p:cNvCxnSpPr>
            <a:cxnSpLocks/>
          </p:cNvCxnSpPr>
          <p:nvPr/>
        </p:nvCxnSpPr>
        <p:spPr>
          <a:xfrm>
            <a:off x="3603396" y="3367756"/>
            <a:ext cx="9084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FB917E-4500-4B05-5641-8F947D937207}"/>
              </a:ext>
            </a:extLst>
          </p:cNvPr>
          <p:cNvCxnSpPr>
            <a:cxnSpLocks/>
          </p:cNvCxnSpPr>
          <p:nvPr/>
        </p:nvCxnSpPr>
        <p:spPr>
          <a:xfrm>
            <a:off x="3603396" y="2204724"/>
            <a:ext cx="47919" cy="2326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556135-0576-2A6A-B5FE-74191F5E52B3}"/>
              </a:ext>
            </a:extLst>
          </p:cNvPr>
          <p:cNvCxnSpPr>
            <a:cxnSpLocks/>
          </p:cNvCxnSpPr>
          <p:nvPr/>
        </p:nvCxnSpPr>
        <p:spPr>
          <a:xfrm flipH="1">
            <a:off x="2899135" y="2225141"/>
            <a:ext cx="7042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DE702E-A254-24F7-0C0F-ADB094F043B0}"/>
              </a:ext>
            </a:extLst>
          </p:cNvPr>
          <p:cNvCxnSpPr>
            <a:cxnSpLocks/>
          </p:cNvCxnSpPr>
          <p:nvPr/>
        </p:nvCxnSpPr>
        <p:spPr>
          <a:xfrm flipH="1">
            <a:off x="2899135" y="4524496"/>
            <a:ext cx="756501" cy="6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A91B2F-815F-CF81-D3E5-25B339AA923A}"/>
              </a:ext>
            </a:extLst>
          </p:cNvPr>
          <p:cNvSpPr txBox="1"/>
          <p:nvPr/>
        </p:nvSpPr>
        <p:spPr>
          <a:xfrm>
            <a:off x="9459207" y="4201330"/>
            <a:ext cx="2042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Be Cautions with Pop-Up Forms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F9CF1-FC74-18A8-3977-58C8370E221F}"/>
              </a:ext>
            </a:extLst>
          </p:cNvPr>
          <p:cNvSpPr txBox="1"/>
          <p:nvPr/>
        </p:nvSpPr>
        <p:spPr>
          <a:xfrm>
            <a:off x="9424053" y="1881558"/>
            <a:ext cx="176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Verify Website Legitimacy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87413-CC60-FC5A-261B-E14AC6F65D46}"/>
              </a:ext>
            </a:extLst>
          </p:cNvPr>
          <p:cNvSpPr txBox="1"/>
          <p:nvPr/>
        </p:nvSpPr>
        <p:spPr>
          <a:xfrm>
            <a:off x="1564162" y="4201329"/>
            <a:ext cx="1640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Look for HTTPS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EF2D70-4E1E-2DD7-A00B-8424F96E1B10}"/>
              </a:ext>
            </a:extLst>
          </p:cNvPr>
          <p:cNvSpPr txBox="1"/>
          <p:nvPr/>
        </p:nvSpPr>
        <p:spPr>
          <a:xfrm>
            <a:off x="1544032" y="1930592"/>
            <a:ext cx="1640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Check the URL’S</a:t>
            </a:r>
            <a:endParaRPr lang="en-IN" b="1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35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DCD6DF-6A62-1D15-D4DF-33A8B1D87637}"/>
              </a:ext>
            </a:extLst>
          </p:cNvPr>
          <p:cNvSpPr txBox="1"/>
          <p:nvPr/>
        </p:nvSpPr>
        <p:spPr>
          <a:xfrm>
            <a:off x="3217288" y="697586"/>
            <a:ext cx="575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doni MT" panose="02070603080606020203" pitchFamily="18" charset="0"/>
              </a:rPr>
              <a:t>SOCIAL ENGINEERING </a:t>
            </a:r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TACTICS</a:t>
            </a:r>
            <a:endParaRPr lang="en-IN" sz="2800" b="1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D1464-8754-848C-32DC-0AACA95C1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341" y="1771059"/>
            <a:ext cx="2987315" cy="280093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C29D5C-E935-E276-1D03-4852ADD7AF61}"/>
              </a:ext>
            </a:extLst>
          </p:cNvPr>
          <p:cNvCxnSpPr>
            <a:cxnSpLocks/>
          </p:cNvCxnSpPr>
          <p:nvPr/>
        </p:nvCxnSpPr>
        <p:spPr>
          <a:xfrm>
            <a:off x="7670734" y="3089636"/>
            <a:ext cx="7576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204ACF-8907-8CE5-39D9-82E97F88BAEE}"/>
              </a:ext>
            </a:extLst>
          </p:cNvPr>
          <p:cNvCxnSpPr>
            <a:cxnSpLocks/>
          </p:cNvCxnSpPr>
          <p:nvPr/>
        </p:nvCxnSpPr>
        <p:spPr>
          <a:xfrm>
            <a:off x="3626635" y="3058999"/>
            <a:ext cx="9084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DA6DC9-4CAF-E1EB-6B4A-52BC1C020ED3}"/>
              </a:ext>
            </a:extLst>
          </p:cNvPr>
          <p:cNvCxnSpPr>
            <a:cxnSpLocks/>
          </p:cNvCxnSpPr>
          <p:nvPr/>
        </p:nvCxnSpPr>
        <p:spPr>
          <a:xfrm>
            <a:off x="8371786" y="2029336"/>
            <a:ext cx="47919" cy="2326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D23C55-94F3-5754-AAAE-E1AB1A68890D}"/>
              </a:ext>
            </a:extLst>
          </p:cNvPr>
          <p:cNvCxnSpPr>
            <a:cxnSpLocks/>
          </p:cNvCxnSpPr>
          <p:nvPr/>
        </p:nvCxnSpPr>
        <p:spPr>
          <a:xfrm>
            <a:off x="3626635" y="2008496"/>
            <a:ext cx="47919" cy="2326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DE37E3-7DAB-C821-6083-ACCC9EFB04DD}"/>
              </a:ext>
            </a:extLst>
          </p:cNvPr>
          <p:cNvCxnSpPr>
            <a:cxnSpLocks/>
          </p:cNvCxnSpPr>
          <p:nvPr/>
        </p:nvCxnSpPr>
        <p:spPr>
          <a:xfrm>
            <a:off x="8377676" y="2040327"/>
            <a:ext cx="762786" cy="9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9FD1AF-9ABC-948B-3F57-5D87F86BA318}"/>
              </a:ext>
            </a:extLst>
          </p:cNvPr>
          <p:cNvCxnSpPr>
            <a:cxnSpLocks/>
          </p:cNvCxnSpPr>
          <p:nvPr/>
        </p:nvCxnSpPr>
        <p:spPr>
          <a:xfrm>
            <a:off x="8428347" y="4325131"/>
            <a:ext cx="762786" cy="9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80EA3C-9866-8B6F-7422-0DAA1106903B}"/>
              </a:ext>
            </a:extLst>
          </p:cNvPr>
          <p:cNvCxnSpPr>
            <a:cxnSpLocks/>
          </p:cNvCxnSpPr>
          <p:nvPr/>
        </p:nvCxnSpPr>
        <p:spPr>
          <a:xfrm flipH="1">
            <a:off x="2970293" y="4334560"/>
            <a:ext cx="7042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DCD48D-C062-91A0-3119-9268A5E99976}"/>
              </a:ext>
            </a:extLst>
          </p:cNvPr>
          <p:cNvCxnSpPr>
            <a:cxnSpLocks/>
          </p:cNvCxnSpPr>
          <p:nvPr/>
        </p:nvCxnSpPr>
        <p:spPr>
          <a:xfrm flipH="1">
            <a:off x="2946333" y="2029336"/>
            <a:ext cx="7042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C1C062-8718-730C-FB10-F7048137545C}"/>
              </a:ext>
            </a:extLst>
          </p:cNvPr>
          <p:cNvSpPr txBox="1"/>
          <p:nvPr/>
        </p:nvSpPr>
        <p:spPr>
          <a:xfrm>
            <a:off x="9414625" y="4001965"/>
            <a:ext cx="2131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Awareness of Social Media Manipulation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17E7E-73EC-BAD8-A057-4F92E66A1380}"/>
              </a:ext>
            </a:extLst>
          </p:cNvPr>
          <p:cNvSpPr txBox="1"/>
          <p:nvPr/>
        </p:nvSpPr>
        <p:spPr>
          <a:xfrm>
            <a:off x="9366706" y="1771059"/>
            <a:ext cx="2029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Exploiting Human Emotions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C8C4F-4D4B-84EC-39AA-D3EADA6CF3B2}"/>
              </a:ext>
            </a:extLst>
          </p:cNvPr>
          <p:cNvSpPr txBox="1"/>
          <p:nvPr/>
        </p:nvSpPr>
        <p:spPr>
          <a:xfrm>
            <a:off x="1280260" y="4001964"/>
            <a:ext cx="176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Manipulations of Trust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EDFA17-BF94-5E69-F54D-C0ADA7A4C71D}"/>
              </a:ext>
            </a:extLst>
          </p:cNvPr>
          <p:cNvSpPr txBox="1"/>
          <p:nvPr/>
        </p:nvSpPr>
        <p:spPr>
          <a:xfrm>
            <a:off x="1246038" y="1706170"/>
            <a:ext cx="176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doni MT" panose="02070603080606020203" pitchFamily="18" charset="0"/>
              </a:rPr>
              <a:t>Impersonations Techniques</a:t>
            </a:r>
            <a:endParaRPr lang="en-IN" b="1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640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AA938C-7EDA-7C5C-1876-8746FB1066FF}"/>
              </a:ext>
            </a:extLst>
          </p:cNvPr>
          <p:cNvSpPr txBox="1"/>
          <p:nvPr/>
        </p:nvSpPr>
        <p:spPr>
          <a:xfrm>
            <a:off x="3217289" y="838988"/>
            <a:ext cx="5181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doni MT" panose="02070603080606020203" pitchFamily="18" charset="0"/>
              </a:rPr>
              <a:t>Protecting </a:t>
            </a:r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Personal Information</a:t>
            </a:r>
            <a:endParaRPr lang="en-IN" sz="2800" b="1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6F8FF-8119-C980-047A-47BBA7430DE1}"/>
              </a:ext>
            </a:extLst>
          </p:cNvPr>
          <p:cNvSpPr txBox="1"/>
          <p:nvPr/>
        </p:nvSpPr>
        <p:spPr>
          <a:xfrm>
            <a:off x="791853" y="1993922"/>
            <a:ext cx="65704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Never Share Passwords via Email.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Use Two-Factor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Verify Requests for Sensitive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Be Cautions with Personal Information Sharing.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1932CF-4977-5EAF-0C64-92044CA62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335" y="2564095"/>
            <a:ext cx="4543720" cy="311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66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3F6F1-9F6D-0EAD-7DE2-CCFCE1171993}"/>
              </a:ext>
            </a:extLst>
          </p:cNvPr>
          <p:cNvSpPr txBox="1"/>
          <p:nvPr/>
        </p:nvSpPr>
        <p:spPr>
          <a:xfrm>
            <a:off x="2698814" y="829561"/>
            <a:ext cx="701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doni MT" panose="02070603080606020203" pitchFamily="18" charset="0"/>
              </a:rPr>
              <a:t>Best Practices for Avoiding </a:t>
            </a:r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Phishing Attacks</a:t>
            </a:r>
            <a:endParaRPr lang="en-IN" sz="2800" b="1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86955-C29E-F603-CEF9-7907124E274B}"/>
              </a:ext>
            </a:extLst>
          </p:cNvPr>
          <p:cNvSpPr txBox="1"/>
          <p:nvPr/>
        </p:nvSpPr>
        <p:spPr>
          <a:xfrm>
            <a:off x="904973" y="1885361"/>
            <a:ext cx="740946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Bodoni MT" panose="02070603080606020203" pitchFamily="18" charset="0"/>
              </a:rPr>
              <a:t>Keep software updated and use security software.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Bodoni MT" panose="02070603080606020203" pitchFamily="18" charset="0"/>
              </a:rPr>
              <a:t>Educate and train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Bodoni MT" panose="02070603080606020203" pitchFamily="18" charset="0"/>
              </a:rPr>
              <a:t>Regularly backup important data.</a:t>
            </a:r>
            <a:endParaRPr lang="en-IN" sz="1900" dirty="0">
              <a:latin typeface="Bodoni MT" panose="020706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B0EB6-5621-6135-51D1-4F21E91C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808" y="3429000"/>
            <a:ext cx="3787143" cy="23305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867272-85E7-9EEC-F033-FAB5308A8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2" y="3024243"/>
            <a:ext cx="2132834" cy="2763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5F6007-AEF0-094D-185D-954C67D15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327" y="3024243"/>
            <a:ext cx="2905866" cy="29058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AF167B-8D97-A894-3A7D-01EB135A1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454" y="3429000"/>
            <a:ext cx="2096353" cy="209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5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69826-3E74-CF18-DE8B-ACD90E1DBD5B}"/>
              </a:ext>
            </a:extLst>
          </p:cNvPr>
          <p:cNvSpPr txBox="1"/>
          <p:nvPr/>
        </p:nvSpPr>
        <p:spPr>
          <a:xfrm>
            <a:off x="4923541" y="551317"/>
            <a:ext cx="1892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Bodoni MT" panose="02070603080606020203" pitchFamily="18" charset="0"/>
              </a:rPr>
              <a:t>Conclusion</a:t>
            </a:r>
            <a:endParaRPr lang="en-IN" sz="2800" b="1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A4F5F72-892C-E7DB-A0D1-3D42FE386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71" y="1337393"/>
            <a:ext cx="1036005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900" dirty="0">
                <a:latin typeface="Arial" panose="020B0604020202020204" pitchFamily="34" charset="0"/>
              </a:rPr>
              <a:t> </a:t>
            </a:r>
            <a:r>
              <a:rPr lang="en-IN" sz="1900" dirty="0">
                <a:latin typeface="Bodoni MT" panose="02070603080606020203" pitchFamily="18" charset="0"/>
              </a:rPr>
              <a:t>Key Points Recap: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IN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249430-1032-EBA2-7D9D-C4A7B4440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519" y="1926573"/>
            <a:ext cx="9617306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Phishing attacks are pervasive and continuously evolving tactics used by cybercriminals to deceive individuals and organizations.</a:t>
            </a:r>
            <a:endParaRPr lang="en-US" altLang="en-US" sz="1900" dirty="0">
              <a:latin typeface="Bodoni MT" panose="02070603080606020203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Email phishing, website spoofing, and social engineering are common methods used in phishing attacks.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Recognizing phishing indicators such as suspicious sender addresses, urgent language, and deceptive URLs is crucial in mitigating risks.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8B458-9AF4-3417-F6B7-87CC44CBA8C3}"/>
              </a:ext>
            </a:extLst>
          </p:cNvPr>
          <p:cNvSpPr txBox="1"/>
          <p:nvPr/>
        </p:nvSpPr>
        <p:spPr>
          <a:xfrm>
            <a:off x="915971" y="4036088"/>
            <a:ext cx="1012281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900" dirty="0">
                <a:latin typeface="Bodoni MT" panose="02070603080606020203" pitchFamily="18" charset="0"/>
              </a:rPr>
              <a:t>Importance of Vigilance</a:t>
            </a:r>
            <a:r>
              <a:rPr lang="en-IN" sz="1900" dirty="0"/>
              <a:t>:</a:t>
            </a:r>
          </a:p>
          <a:p>
            <a:endParaRPr lang="en-IN" sz="19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Bodoni MT" panose="02070603080606020203" pitchFamily="18" charset="0"/>
              </a:rPr>
              <a:t>Maintaining high level of awareness and skepticism towards unsolicited communications is essential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Bodoni MT" panose="02070603080606020203" pitchFamily="18" charset="0"/>
              </a:rPr>
              <a:t>Regularly verify the authenticity of websites and refrain  from clicking on links or downloading attachments from unknown or suspicious sources.</a:t>
            </a:r>
          </a:p>
          <a:p>
            <a:endParaRPr lang="en-IN" sz="19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79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621D59-EEA4-32CC-E981-439E0EBB71A9}"/>
              </a:ext>
            </a:extLst>
          </p:cNvPr>
          <p:cNvSpPr txBox="1"/>
          <p:nvPr/>
        </p:nvSpPr>
        <p:spPr>
          <a:xfrm>
            <a:off x="736861" y="848412"/>
            <a:ext cx="10718277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latin typeface="Bodoni MT" panose="02070603080606020203" pitchFamily="18" charset="0"/>
              </a:rPr>
              <a:t> Take Action:</a:t>
            </a:r>
          </a:p>
          <a:p>
            <a:endParaRPr lang="en-US" sz="19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Bodoni MT" panose="02070603080606020203" pitchFamily="18" charset="0"/>
              </a:rPr>
              <a:t>Implement robust cybersecurity measures, including spam filters, antivirus software, and multi-factor authentication (MFA), to protect against phishing promptly.</a:t>
            </a:r>
          </a:p>
          <a:p>
            <a:endParaRPr lang="en-US" sz="19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Bodoni MT" panose="02070603080606020203" pitchFamily="18" charset="0"/>
              </a:rPr>
              <a:t>Educate employees, friends, and family members about phishing techniques and encourage reporting of suspicious activities promptly.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Bodoni MT" panose="020706030806060202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latin typeface="Bodoni MT" panose="02070603080606020203" pitchFamily="18" charset="0"/>
              </a:rPr>
              <a:t>Continuous Learning: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9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Bodoni MT" panose="02070603080606020203" pitchFamily="18" charset="0"/>
              </a:rPr>
              <a:t>Cybersecurity is a dynamic field; staying informed about emerging threats and best practices is a key to safeguarding personal and organizational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Bodoni MT" panose="02070603080606020203" pitchFamily="18" charset="0"/>
              </a:rPr>
              <a:t>Regularly update security protocols and participate in phishing awareness training to reinforce knowledge and readiness.</a:t>
            </a:r>
            <a:endParaRPr lang="en-IN" sz="19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32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6105B-F0C5-37AA-C0E5-3F45A236A78E}"/>
              </a:ext>
            </a:extLst>
          </p:cNvPr>
          <p:cNvSpPr/>
          <p:nvPr/>
        </p:nvSpPr>
        <p:spPr>
          <a:xfrm>
            <a:off x="1443872" y="2243581"/>
            <a:ext cx="9304256" cy="19890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Bodoni MT" panose="02070603080606020203" pitchFamily="18" charset="0"/>
              </a:rPr>
              <a:t>THANK YOU</a:t>
            </a:r>
            <a:endParaRPr lang="en-IN" sz="11500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476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233</TotalTime>
  <Words>484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Agency FB</vt:lpstr>
      <vt:lpstr>Algerian</vt:lpstr>
      <vt:lpstr>Arial</vt:lpstr>
      <vt:lpstr>Bodoni MT</vt:lpstr>
      <vt:lpstr>Century Gothic</vt:lpstr>
      <vt:lpstr>Garamond</vt:lpstr>
      <vt:lpstr>Wingdings</vt:lpstr>
      <vt:lpstr>Savon</vt:lpstr>
      <vt:lpstr>Phishing Awareness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DHRUMAN DAS</dc:creator>
  <cp:lastModifiedBy>DHRUMAN DAS</cp:lastModifiedBy>
  <cp:revision>2</cp:revision>
  <dcterms:created xsi:type="dcterms:W3CDTF">2024-07-20T05:09:41Z</dcterms:created>
  <dcterms:modified xsi:type="dcterms:W3CDTF">2024-07-20T09:06:44Z</dcterms:modified>
</cp:coreProperties>
</file>